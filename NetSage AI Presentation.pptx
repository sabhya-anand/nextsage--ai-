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2362200"/>
            <a:ext cx="8001000" cy="98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375" i="0" u="none">
                <a:solidFill>
                  <a:srgbClr val="FFFFFF"/>
                </a:solidFill>
                <a:latin typeface="Montserrat"/>
              </a:rPr>
              <a:t>NetSage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81400"/>
            <a:ext cx="762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2250" i="0" u="none">
                <a:solidFill>
                  <a:srgbClr val="E2E8F0"/>
                </a:solidFill>
                <a:latin typeface="Inter"/>
              </a:rPr>
              <a:t>An AI-Assisted Network Troubleshooting System with Human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5550693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The Troubleshooting Gap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61629"/>
            <a:ext cx="555069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Connecting Symptoms to Causes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104554"/>
            <a:ext cx="528637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Junior engineers frequently possess knowledge of individual Cisco networking commands but often struggle to connect an observed network symptom with its underlying root cause.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115841"/>
            <a:ext cx="5286375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Modern enterprise networks have interdependent components where one symptom (e.g., unreachable IP) can map to multiple fault domains. NetSage AI bridges this gap by systematizing evidence collection and diagnosis into a repeatable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62125" y="2261592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OSI Layer Mapping: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Engineers frequently struggle to map an observed symptom directly to the correct OSI layer (e.g., Layer 2 VLAN issues versus Layer 3 Gateway misconfigurations).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2125" y="3069133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Overlapping Symptoms: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It is exceptionally difficult to distinguish between overlapping causes, such as a DHCP failure and a routing misconfiguration presenting identical end-user symptoms.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876675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AI Hallucinations: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Blindly trusting AI output in technical networking can lead to further, more severe misconfiguration if the model invents plausible but factually incorrect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4684216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Pattern Recognition: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A lack of structured ways to record, review, and learn from diagnostic reasoning limits the pedagogical value of standard troubleshooting exercises.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280642"/>
            <a:ext cx="2571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088183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895725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703266"/>
            <a:ext cx="2286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Challenges in Network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76425" y="2047875"/>
            <a:ext cx="8439150" cy="3000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25"/>
              </a:lnSpc>
            </a:pPr>
            <a:r>
              <a:rPr b="0" sz="3150" i="0" u="none">
                <a:solidFill>
                  <a:srgbClr val="0F172A"/>
                </a:solidFill>
                <a:latin typeface="Montserrat SemiBold"/>
              </a:rPr>
              <a:t>Design and implement a Python-based, AI-assisted network troubleshooting system that requires a human reviewer to accept, edit, or reject every generated diagnosis before it is treated as final.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9487" y="5429250"/>
            <a:ext cx="51530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 Medium"/>
              </a:rPr>
              <a:t>— Sabhya Anand, NetSage AI Project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9675" y="2428875"/>
            <a:ext cx="476250" cy="1390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0" u="none">
                <a:solidFill>
                  <a:srgbClr val="BAE6FD"/>
                </a:solidFill>
                <a:latin typeface="Montserrat SemiBold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6075" y="4953000"/>
            <a:ext cx="476250" cy="1390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0" u="none">
                <a:solidFill>
                  <a:srgbClr val="BAE6FD"/>
                </a:solidFill>
                <a:latin typeface="Montserrat Semi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34125" y="2313979"/>
            <a:ext cx="555069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Augmenting Engineer 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34125" y="2837854"/>
            <a:ext cx="5286375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NetSage AI is an advanced Python-based system that combines deterministic rule checking with an AI-oriented diagnosis layer. Every diagnosis is treated strictly as a recommendation subject to mandatory human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4138612"/>
            <a:ext cx="5286375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This architecture emphasizes Responsible AI in technical operations, ensuring that the system supports the systematic diagnosis of network faults without removing the learner's responsibility for the final, authoritative decision.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1971675"/>
            <a:ext cx="3810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Proposed Solution: NetSage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12887"/>
            <a:ext cx="3429000" cy="392757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12887"/>
            <a:ext cx="3429000" cy="39275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912887"/>
            <a:ext cx="3429000" cy="3927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0870" y="3093987"/>
            <a:ext cx="2070258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Rule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617862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Applies a fixed set of robust if-then conditions to structured Cisco IOS input in order to produce deterministic conclusions for known network anomalies.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0830" y="3093987"/>
            <a:ext cx="2710338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Diagnosis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617862"/>
            <a:ext cx="283845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Synthesizes broad evidence into a candidate explanation (Root Cause, OSI Layer, Confidence, Remediation) strictly formatted using a JSON schema.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5887" y="3093987"/>
            <a:ext cx="18002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Review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617862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Provides a permanent, structured audit trail of all Accepted, Edited, or Rejected decisions to support future evaluation of AI-human agreement.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0262" y="2303412"/>
            <a:ext cx="371475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6437" y="2303412"/>
            <a:ext cx="619125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6437" y="2303412"/>
            <a:ext cx="619125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Core 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66850"/>
            <a:ext cx="11049000" cy="4819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3950" y="5468391"/>
            <a:ext cx="9944100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1" u="none">
                <a:solidFill>
                  <a:srgbClr val="334155"/>
                </a:solidFill>
                <a:latin typeface="Inter"/>
              </a:rPr>
              <a:t>The curated dataset comprises 36 Packet Tracer-style cases spanning multiple fault domains, meticulously designed to provide a comprehensive baseline for testing diagnostic accuracy and engine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The Troubleshooting Dataset (36 Cases)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4362"/>
            <a:ext cx="5286375" cy="318462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84362"/>
            <a:ext cx="5286375" cy="3184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674887"/>
            <a:ext cx="473059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284C7"/>
                </a:solidFill>
                <a:latin typeface="Montserrat SemiBold"/>
              </a:rPr>
              <a:t>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198762"/>
            <a:ext cx="4505325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The Python-based rule checker evaluates Cisco show-command outputs against eleven specific deterministic patterns. This includes detecting 'administratively down' interfaces, missing VLANs, ACL implicit denies, and DHCP pool exhaustion through explicit textual footprint matching.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674887"/>
            <a:ext cx="473059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284C7"/>
                </a:solidFill>
                <a:latin typeface="Montserrat SemiBold"/>
              </a:rPr>
              <a:t>Transparent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3198762"/>
            <a:ext cx="4505325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Each detected pattern immediately generates a structured finding object. This finding isolates the core issue, assigns a severity level, highlights the exact text evidence found in the device output, and provides actionable, step-by-step remediation commands.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Deterministic Rule Checker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850" y="1798855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625" y="1796950"/>
            <a:ext cx="5048250" cy="86841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Evidence Synthesis: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Intelligently combines symptoms, topology notes, and rule-checker findings into a comprehensive candidate explanation.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" y="2838717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836812"/>
            <a:ext cx="5048250" cy="86841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Strict JSON Schema: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Mandates output in a highly structured format including Root Cause, precise OSI Layer, Confidence, and Fix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3878580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876675"/>
            <a:ext cx="5048250" cy="86841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Built-In Oversight: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Explicitly flags the requirement for human verification within the payload to enforce accountability.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4918442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916537"/>
            <a:ext cx="5048250" cy="86841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Interchangeable Design: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The robust architecture supports both the current mock/rule-assisted engine and future live Large Language Model (LLM) API calls seamlessly.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96950"/>
            <a:ext cx="5286375" cy="3333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AI-Oriented Diagnosis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313979"/>
            <a:ext cx="528637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284C7"/>
                </a:solidFill>
                <a:latin typeface="Montserrat"/>
              </a:rPr>
              <a:t>429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837979"/>
            <a:ext cx="52863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0F172A"/>
                </a:solidFill>
                <a:latin typeface="Inter SemiBold"/>
              </a:rPr>
              <a:t>HTTP Rate Limit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2313979"/>
            <a:ext cx="555069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Adapting with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837854"/>
            <a:ext cx="5286375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During integration testing, live OpenAI-compatible LLM API calls consistently returned insufficient quota limits. Rather than fabricating AI performance results, the system was responsibly adapted.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4138612"/>
            <a:ext cx="5286375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A mock/rule-assisted engine was implemented that perfectly preserves the JSON output contract. This demonstrates the end-to-end workflow accurately, ensuring complete transparency and adherence to Responsible AI principles.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The API Quota Challenge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39553"/>
            <a:ext cx="5286375" cy="34740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39553"/>
            <a:ext cx="5286375" cy="34740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530078"/>
            <a:ext cx="473059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284C7"/>
                </a:solidFill>
                <a:latin typeface="Montserrat SemiBold"/>
              </a:rPr>
              <a:t>Mitigating AI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053953"/>
            <a:ext cx="4505325" cy="20262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Large Language Models are prone to generating fluent but factually incorrect explanations (hallucinations). HITL design acts as an essential operational firewall, ensuring a person with deep contextual understanding validates technical recommendations before they impact network stability.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530078"/>
            <a:ext cx="473059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284C7"/>
                </a:solidFill>
                <a:latin typeface="Montserrat SemiBold"/>
              </a:rPr>
              <a:t>Enabling Active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3053953"/>
            <a:ext cx="4505325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By forcing the network engineer to review, accept, or edit the diagnosis, they remain the final decision-maker. This actively accelerates pattern recognition and learning without dangerously offloading critical thinking responsibility to an automated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Why Human-in-the-Loop (HITL)?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555069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The Review Workflow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59644"/>
            <a:ext cx="555069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Accountable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02569"/>
            <a:ext cx="5286375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The Streamlit-based interface presents the generated diagnosis alongside all supporting rule-based evidence. Reviewers must manually and consciously select from three distinct outcomes: Accepted, Edited, or Rejected.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03327"/>
            <a:ext cx="5286375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All finalized decisions, including manual edits and free-text reviewer notes, are permanently persisted to a CSV log. This practice generates a rich, auditable dataset to support future granular analysis of AI-human agreement rates and system efficacy.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19750" y="2627114"/>
            <a:ext cx="9525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0523" y="2960489"/>
            <a:ext cx="7630953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0F172A"/>
                </a:solidFill>
                <a:latin typeface="Montserrat"/>
              </a:rPr>
              <a:t>Responsible AI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6314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Prioritizing foundational transparency, evidence-based reasoning, and accountable human oversight over unchecked, hazardous automation.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62125" y="2261592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Transparency: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Clearly disclosing system limitations (such as the API quota constraint) and mapping how conclusions are reached, rather than presenting AI as an infallible black box.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2125" y="3069133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Evidence-Based Reasoning: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Grounding every diagnosis deeply in verifiable show-command data. The AI engine is strictly prompted to utilize provided context, not invent network configurations.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876675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Auditability: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Maintaining a permanent, immutable log of every human override. This historical data is crucial for identifying systemic weaknesses in the underlying diagnosis logic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4684216"/>
            <a:ext cx="909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0F172A"/>
                </a:solidFill>
                <a:latin typeface="Inter SemiBold"/>
              </a:rPr>
              <a:t>Ethical Automation: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Intentionally designing the tool to augment the junior engineer's capabilities and learning process, instead of replacing their critical thinking and technical agency.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280642"/>
            <a:ext cx="2571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088183"/>
            <a:ext cx="1714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895725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703266"/>
            <a:ext cx="2857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Responsible AI Principles Applied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850" y="1654046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625" y="1652141"/>
            <a:ext cx="5048250" cy="86841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Built using a highly robust tech stack including </a:t>
            </a:r>
            <a:r>
              <a:rPr b="1" sz="1425" i="0" u="none">
                <a:solidFill>
                  <a:srgbClr val="334155"/>
                </a:solidFill>
                <a:latin typeface="Inter"/>
              </a:rPr>
              <a:t>Python, Pandas, and Streamlit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to create an interactive web-based dashboard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" y="2693908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692003"/>
            <a:ext cx="5048250" cy="86841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Features a strictly modular architecture, separating the Dataset, Rule Checker, Diagnosis Engine, and Human Reviewer into distinct, easily maintainable components.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3733770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731865"/>
            <a:ext cx="5048250" cy="86841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Validated via dedicated unit test scripts for dataset integrity, ensuring 36 rows with unique case IDs and flawless, deterministic rule logic matching.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4773632"/>
            <a:ext cx="104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771727"/>
            <a:ext cx="5048250" cy="1157882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The Streamlit application underwent extensive manual exploratory validation to guarantee smooth data flow across the Home, Diagnose, Review, and Dashboard pages.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652141"/>
            <a:ext cx="43719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Implementation &amp;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1773882"/>
          <a:ext cx="11049000" cy="420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62250"/>
                <a:gridCol w="8286750"/>
              </a:tblGrid>
              <a:tr h="841117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Montserrat"/>
                        </a:rPr>
                        <a:t>Field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Montserrat"/>
                        </a:rPr>
                        <a:t>Detail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4111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Network Problem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A user's PC obtains an IP address via DHCP but cannot reach the default gateway.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11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System Diagnosis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Root cause correctly identified as a Gateway mismatch at OSI Layer 3.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11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Human Decision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0284C7"/>
                          </a:solidFill>
                          <a:latin typeface="Inter"/>
                        </a:rPr>
                        <a:t>Edited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117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Lesson Learned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The reviewer noted a subnet mask inconsistency in the topology. This demonstrates that human review successfully catches secondary, nuanced faults that are easily missed by basic rule logic.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252338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33750" y="2523380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41476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3750" y="3241476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95957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3750" y="3959572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67766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750" y="4677667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Case Study: Gateway Mismatch (CASE003)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1918543"/>
          <a:ext cx="11049000" cy="3916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62250"/>
                <a:gridCol w="8286750"/>
              </a:tblGrid>
              <a:tr h="783222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Montserrat"/>
                        </a:rPr>
                        <a:t>Field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0F172A"/>
                          </a:solidFill>
                          <a:latin typeface="Montserrat"/>
                        </a:rPr>
                        <a:t>Detail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8322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Network Problem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Internal corporate hosts cannot access an external web server post-NAT change.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322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System Diagnosis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Root cause inaccurately identified as a NAT configuration problem at OSI Layer 3.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322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Human Decision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E11D48"/>
                          </a:solidFill>
                          <a:latin typeface="Inter"/>
                        </a:rPr>
                        <a:t>Rejected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3226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Lesson Learned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The actual cause was an ACL blocking outbound traffic. Human judgment successfully resolved competing evidence that tricked the simplified, automated rule hierarchy.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2668041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33750" y="2668041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38613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3750" y="3386137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10423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3750" y="4104233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82232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750" y="4822328"/>
            <a:ext cx="8286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Case Study: Ambiguous Evidence (CASE026)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36675"/>
            <a:ext cx="3429000" cy="42799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736675"/>
            <a:ext cx="3429000" cy="42799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736675"/>
            <a:ext cx="3429000" cy="4279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813" y="2917775"/>
            <a:ext cx="2980372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794075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Successfully delivered a complete, working pipeline from case input and deterministic rule checking to human-reviewed diagnosis logging via an interactive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5851" y="2917775"/>
            <a:ext cx="238029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Robust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441650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Curated a comprehensive, structured 36-case dataset spanning 8 distinct fault categories and multiple OSI layers, exceeding the initial project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5813" y="2917775"/>
            <a:ext cx="2980372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0F172A"/>
                </a:solidFill>
                <a:latin typeface="Montserrat SemiBold"/>
              </a:rPr>
              <a:t>Interchangeable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794075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Engineered a decoupled JSON schema that allows the UI to seamlessly switch between the mock engine and a future live LLM without requiring major refactoring.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350" y="2127200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925" y="2127200"/>
            <a:ext cx="438150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8350" y="2127200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Core Project Achievements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385762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68" y="4162425"/>
            <a:ext cx="266830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284C7"/>
                </a:solidFill>
                <a:latin typeface="Montserrat SemiBold"/>
              </a:rPr>
              <a:t>Phase 1: LLM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591050"/>
            <a:ext cx="254124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Integrate a real Large Language Model (LLM) API for advanced technical reasoning once billing quota constraints are fully resolved.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3888" y="1025425"/>
            <a:ext cx="266830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284C7"/>
                </a:solidFill>
                <a:latin typeface="Montserrat SemiBold"/>
              </a:rPr>
              <a:t>Phase 2: RAG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7419" y="1711225"/>
            <a:ext cx="254124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Implement Retrieval-Augmented Generation using official Cisco networking documentation to ground AI conclusions firmly in verified 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9808" y="4162425"/>
            <a:ext cx="266830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284C7"/>
                </a:solidFill>
                <a:latin typeface="Montserrat SemiBold"/>
              </a:rPr>
              <a:t>Phase 3: Live Polling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3339" y="4591050"/>
            <a:ext cx="254124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Connect directly to physical or virtual network devices via SSH to automate the extraction and parsing of live show-command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5728" y="1282600"/>
            <a:ext cx="266830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284C7"/>
                </a:solidFill>
                <a:latin typeface="Montserrat SemiBold"/>
              </a:rPr>
              <a:t>Phase 4: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9259" y="1711225"/>
            <a:ext cx="254124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Deploy advanced, visually rich analytics to evaluate historical AI-human agreement rates and confidence-versus-correctness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27820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3740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99659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35579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Future Scope Roadmap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2187922"/>
            <a:ext cx="116014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F172A"/>
                </a:solidFill>
                <a:latin typeface="Montserrat"/>
              </a:rPr>
              <a:t>Conclusion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302347"/>
            <a:ext cx="110490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334155"/>
                </a:solidFill>
                <a:latin typeface="Inter"/>
              </a:rPr>
              <a:t>Thank you for your attention.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174777"/>
            <a:ext cx="11049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284C7"/>
                </a:solidFill>
                <a:latin typeface="Inter Medium"/>
              </a:rPr>
              <a:t>Sabhya Anand</a:t>
            </a:r>
            <a:r>
              <a:t>
</a:t>
            </a:r>
            <a:r>
              <a:rPr b="0" sz="1650" i="0" u="none">
                <a:solidFill>
                  <a:srgbClr val="0284C7"/>
                </a:solidFill>
                <a:latin typeface="Inter Medium"/>
              </a:rPr>
              <a:t> Applied AI and Network Troubleshooting | IILM University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42815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12925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19578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805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7653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203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203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862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862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9710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9710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7558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7558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5405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5405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7578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1571029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https://images.stockcake.com/public/5/f/5/5f5944ad-cb0a-4edf-bd60-ed8a42201021_medium/digital-neural-network-stockcake.jpg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1816744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1468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2355800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https://img.magnific.com/premium-photo/flat-abstract-ai-brain-with-digital-nodes-isolated-white-background-concept-as-stylized-abst_980716-676059.jpg?semt=ais_hybrid&amp;w=740&amp;q=80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79960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45209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333866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https://www.boldbi.com/wp-content/uploads/2025/12/patient-health-monitoring-dashboard-v2.webp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358437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www.boldbi.com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29980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66875" y="412343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https://images.stockcake.com/public/4/0/3/403f31a1-9957-4c51-9808-b457842479bf_medium/analyzing-business-data-stockcake.jpg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3691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14751"/>
            <a:ext cx="857250" cy="476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66875" y="49082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https://www.protechtraining.com/sites/default/files/2021-04/AdobeStock_317757317.jpeg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51539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www.protechtraining.com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699521"/>
            <a:ext cx="857250" cy="476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66875" y="56929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https://img.magnific.com/free-vector/abstract-blue-gradient-color-technology-line-wave-background_1142-11060.jpg?semt=ais_hybrid&amp;w=740&amp;q=80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59386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532804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Montserra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